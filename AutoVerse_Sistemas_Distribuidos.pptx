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&amp; Premissas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AutoVerse — Revista Distribuída de Carros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1A1A1E"/>
          </a:solidFill>
          <a:ln w="19050">
            <a:solidFill>
              <a:srgbClr val="E819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Cliente (Browser)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25880" y="1618488"/>
            <a:ext cx="0" cy="274320"/>
          </a:xfrm>
          <a:prstGeom prst="line">
            <a:avLst/>
          </a:prstGeom>
          <a:noFill/>
          <a:ln w="15240">
            <a:solidFill>
              <a:srgbClr val="8A8A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HTTP/REST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65760" y="189280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1A1A1E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89280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CDN / Load Balancer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Edge Network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325880" y="2368296"/>
            <a:ext cx="0" cy="256032"/>
          </a:xfrm>
          <a:prstGeom prst="line">
            <a:avLst/>
          </a:prstGeom>
          <a:noFill/>
          <a:ln w="15240">
            <a:solidFill>
              <a:srgbClr val="8A8A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24328"/>
            <a:ext cx="1920240" cy="475488"/>
          </a:xfrm>
          <a:prstGeom prst="roundRect">
            <a:avLst>
              <a:gd name="adj" fmla="val 9615"/>
            </a:avLst>
          </a:prstGeom>
          <a:solidFill>
            <a:srgbClr val="1A1A1E"/>
          </a:solidFill>
          <a:ln w="19050">
            <a:solidFill>
              <a:srgbClr val="E819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6243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API Backend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325880" y="3099816"/>
            <a:ext cx="0" cy="182880"/>
          </a:xfrm>
          <a:prstGeom prst="line">
            <a:avLst/>
          </a:prstGeom>
          <a:noFill/>
          <a:ln w="12700">
            <a:solidFill>
              <a:srgbClr val="8A8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3282696"/>
            <a:ext cx="1280160" cy="0"/>
          </a:xfrm>
          <a:prstGeom prst="line">
            <a:avLst/>
          </a:prstGeom>
          <a:noFill/>
          <a:ln w="12700">
            <a:solidFill>
              <a:srgbClr val="8A8A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282696"/>
            <a:ext cx="0" cy="228600"/>
          </a:xfrm>
          <a:prstGeom prst="line">
            <a:avLst/>
          </a:prstGeom>
          <a:noFill/>
          <a:ln w="12700">
            <a:solidFill>
              <a:srgbClr val="8A8A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3282696"/>
            <a:ext cx="0" cy="228600"/>
          </a:xfrm>
          <a:prstGeom prst="line">
            <a:avLst/>
          </a:prstGeom>
          <a:noFill/>
          <a:ln w="12700">
            <a:solidFill>
              <a:srgbClr val="8A8A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511296"/>
            <a:ext cx="868680" cy="475488"/>
          </a:xfrm>
          <a:prstGeom prst="roundRect">
            <a:avLst>
              <a:gd name="adj" fmla="val 9615"/>
            </a:avLst>
          </a:prstGeom>
          <a:solidFill>
            <a:srgbClr val="1A1A1E"/>
          </a:solidFill>
          <a:ln w="19050">
            <a:solidFill>
              <a:srgbClr val="50C87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8600" y="351129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(TTL)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54480" y="3511296"/>
            <a:ext cx="868680" cy="475488"/>
          </a:xfrm>
          <a:prstGeom prst="roundRect">
            <a:avLst>
              <a:gd name="adj" fmla="val 9615"/>
            </a:avLst>
          </a:prstGeom>
          <a:solidFill>
            <a:srgbClr val="1A1A1E"/>
          </a:solidFill>
          <a:ln w="1905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554480" y="3511296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2514600" y="105156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651760" y="1371600"/>
            <a:ext cx="475488" cy="475488"/>
          </a:xfrm>
          <a:prstGeom prst="ellipse">
            <a:avLst/>
          </a:prstGeom>
          <a:solidFill>
            <a:srgbClr val="E8192C">
              <a:alpha val="20000"/>
            </a:srgbClr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🔄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00400" y="1161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0" y="14813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→ OPEN → HALF_OPEN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contra falhas em cascata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897880" y="105156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1371600"/>
            <a:ext cx="475488" cy="475488"/>
          </a:xfrm>
          <a:prstGeom prst="ellipse">
            <a:avLst/>
          </a:prstGeom>
          <a:solidFill>
            <a:srgbClr val="50C878">
              <a:alpha val="20000"/>
            </a:srgbClr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1371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💾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3680" y="1161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Cache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148132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node-cache com TTL configurável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latência e carga no DB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514600" y="2395728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651760" y="2715768"/>
            <a:ext cx="475488" cy="475488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51760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📊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200400" y="25054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0400" y="282549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/api/metrics: uptime, hit rate,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 ID, circuit state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897880" y="2395728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2715768"/>
            <a:ext cx="475488" cy="475488"/>
          </a:xfrm>
          <a:prstGeom prst="ellipse">
            <a:avLst/>
          </a:prstGeom>
          <a:solidFill>
            <a:srgbClr val="E8192C">
              <a:alpha val="20000"/>
            </a:srgbClr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2715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❤️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583680" y="25054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83680" y="2825496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para liveness probe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 no Render.com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14600" y="370332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651760" y="4023360"/>
            <a:ext cx="475488" cy="475488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5176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🌍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3200400" y="3813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00400" y="41330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UUID único por instância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X-Instance-Id, X-Served-By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897880" y="3703320"/>
            <a:ext cx="3154680" cy="1143000"/>
          </a:xfrm>
          <a:prstGeom prst="roundRect">
            <a:avLst>
              <a:gd name="adj" fmla="val 4800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35040" y="4023360"/>
            <a:ext cx="475488" cy="475488"/>
          </a:xfrm>
          <a:prstGeom prst="ellipse">
            <a:avLst/>
          </a:prstGeom>
          <a:solidFill>
            <a:srgbClr val="50C878">
              <a:alpha val="20000"/>
            </a:srgbClr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⚡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6583680" y="38130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583680" y="4133088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stateless → scale-out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automático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Tecnologias: Node.js · Express · node-cache · UUID · compression · morgan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da Nuvem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técnica e estratégica para seleção do provedor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11113"/>
          </a:solidFill>
          <a:ln w="254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430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☁️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Render.com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Platform-as-a-Service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6060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Deploy automático via GitHub
✅  HTTPS + domínio gratuito
✅  Health checks nativos
✅  Auto-scaling horizontal
✅  CDN Edge global
✅  Zero-downtime deploys
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43400" y="1005840"/>
          <a:ext cx="4389120" cy="3108960"/>
        </p:xfrm>
        <a:graphic>
          <a:graphicData uri="http://schemas.openxmlformats.org/drawingml/2006/table">
            <a:tbl>
              <a:tblPr/>
              <a:tblGrid>
                <a:gridCol w="877824"/>
                <a:gridCol w="877824"/>
                <a:gridCol w="877824"/>
                <a:gridCol w="877824"/>
                <a:gridCol w="877824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0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Render.com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Heroku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EC2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8A8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Vercel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1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Encerrado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Limitado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Só frontend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Node.js nativo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Serverless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Manual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E819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Não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Scaling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Avançado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Automático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via Git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Complexo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50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Sim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Facilidade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0D0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⭐⭐⭐⭐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3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365760" y="4315968"/>
            <a:ext cx="8412480" cy="685800"/>
          </a:xfrm>
          <a:prstGeom prst="roundRect">
            <a:avLst/>
          </a:prstGeom>
          <a:solidFill>
            <a:srgbClr val="1A1A1E"/>
          </a:solidFill>
          <a:ln/>
        </p:spPr>
        <p:txBody>
          <a:bodyPr wrap="square" lIns="76200" tIns="127000" rIns="127000" bIns="7620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Render.com selecionado por combinar simplicidade de deploy, suporte nativo a Node.js, health checks automáticos e tier gratuito com HTTPS — ideal para demonstrar sistemas distribuídos em ambiente de produção real.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0C878"/>
          </a:solidFill>
          <a:ln w="12700">
            <a:solidFill>
              <a:srgbClr val="50C8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182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0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 da Solução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padrões distribuídos entregam valor para o AutoVerse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5156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5A623">
              <a:alpha val="15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~95% cache hit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481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17647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distribuído com TTL reduz latência de resposta. Artigos populares servidos da memória em &lt; 5ms vs. 50ms+ do banco.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82112" y="105156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05156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50C878">
              <a:alpha val="15000"/>
            </a:srgbClr>
          </a:solidFill>
          <a:ln w="6350">
            <a:solidFill>
              <a:srgbClr val="50C8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82112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481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Resiliência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17647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previne falhas em cascata. Sistema degrada graciosamente: se o serviço falhar, o frontend exibe cache.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05156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05156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E8192C">
              <a:alpha val="15000"/>
            </a:srgbClr>
          </a:solidFill>
          <a:ln w="6350">
            <a:solidFill>
              <a:srgbClr val="E819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051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035040" y="10515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horizontal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44768" y="14813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17647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stateless permite múltiplas instâncias. Render.com adiciona instâncias automaticamente sob carga elevada.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274320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274320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F5A623">
              <a:alpha val="15000"/>
            </a:srgbClr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2743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0040" y="2743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em tempo real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" y="3172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9768" y="34564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/api/metrics expõe uptime, cache hit rate, estado do circuit breaker e ID único de cada instância.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182112" y="274320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2112" y="274320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50C878">
              <a:alpha val="15000"/>
            </a:srgbClr>
          </a:solidFill>
          <a:ln w="6350">
            <a:solidFill>
              <a:srgbClr val="50C8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82112" y="2743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82112" y="2743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50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automático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3172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Contínuo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91840" y="34564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 GitHub dispara deploy automático no Render. Zero-downtime deploy garante disponibilidade 99.9%.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035040" y="274320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11113"/>
          </a:solidFill>
          <a:ln w="12700">
            <a:solidFill>
              <a:srgbClr val="2A2A3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2743200"/>
            <a:ext cx="2697480" cy="411480"/>
          </a:xfrm>
          <a:prstGeom prst="roundRect">
            <a:avLst>
              <a:gd name="adj" fmla="val 13333"/>
            </a:avLst>
          </a:prstGeom>
          <a:solidFill>
            <a:srgbClr val="E8192C">
              <a:alpha val="15000"/>
            </a:srgbClr>
          </a:solidFill>
          <a:ln w="6350">
            <a:solidFill>
              <a:srgbClr val="E8192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35040" y="2743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35040" y="27432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12700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Edge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44768" y="317296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 Global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34564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estático servido via CDN global. Latência reduzida para usuários no Brasil, EUA e Europa.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" y="4389120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1A1A1E"/>
          </a:solidFill>
          <a:ln w="19050">
            <a:solidFill>
              <a:srgbClr val="E819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389120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Sistema em produção: autoverse-frontend.onrender.com  |  API: autoverse-api.onrender.com/health  |  Código: github.com/user/autoverse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AutoVerse — Sistemas Distribuídos</dc:title>
  <dc:subject>PptxGenJS Presentation</dc:subject>
  <dc:creator>PptxGenJS</dc:creator>
  <cp:lastModifiedBy>PptxGenJS</cp:lastModifiedBy>
  <cp:revision>1</cp:revision>
  <dcterms:created xsi:type="dcterms:W3CDTF">2026-06-09T22:40:37Z</dcterms:created>
  <dcterms:modified xsi:type="dcterms:W3CDTF">2026-06-09T22:40:37Z</dcterms:modified>
</cp:coreProperties>
</file>